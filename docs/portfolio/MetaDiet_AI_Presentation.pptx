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edd167ad17422a" /><Relationship Type="http://schemas.openxmlformats.org/officeDocument/2006/relationships/extended-properties" Target="/docProps/app.xml" Id="R703461ecfcb748ff" /><Relationship Type="http://schemas.openxmlformats.org/officeDocument/2006/relationships/officeDocument" Target="/ppt/presentation.xml" Id="R6cd14007f59a41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8efab3409b4e8e"/>
  </p:sldMasterIdLst>
  <p:notesMasterIdLst>
    <p:notesMasterId xmlns:r="http://schemas.openxmlformats.org/officeDocument/2006/relationships" r:id="Rf5bc3ab3e0094f46"/>
  </p:notesMasterIdLst>
  <p:sldIdLst>
    <p:sldId xmlns:r="http://schemas.openxmlformats.org/officeDocument/2006/relationships" id="256" r:id="Rd5fce5d2b31e4731"/>
    <p:sldId xmlns:r="http://schemas.openxmlformats.org/officeDocument/2006/relationships" id="257" r:id="Re733f783a53248e1"/>
    <p:sldId xmlns:r="http://schemas.openxmlformats.org/officeDocument/2006/relationships" id="258" r:id="R16efd100f88b4776"/>
    <p:sldId xmlns:r="http://schemas.openxmlformats.org/officeDocument/2006/relationships" id="259" r:id="R2f8fee197cfe4787"/>
    <p:sldId xmlns:r="http://schemas.openxmlformats.org/officeDocument/2006/relationships" id="260" r:id="R7aff322fab9a422c"/>
    <p:sldId xmlns:r="http://schemas.openxmlformats.org/officeDocument/2006/relationships" id="261" r:id="R05abc6268fe74c1a"/>
    <p:sldId xmlns:r="http://schemas.openxmlformats.org/officeDocument/2006/relationships" id="262" r:id="R50b48d258dde4d63"/>
    <p:sldId xmlns:r="http://schemas.openxmlformats.org/officeDocument/2006/relationships" id="263" r:id="Rede5a453ecff4648"/>
    <p:sldId xmlns:r="http://schemas.openxmlformats.org/officeDocument/2006/relationships" id="264" r:id="R61176c2373ef41b3"/>
    <p:sldId xmlns:r="http://schemas.openxmlformats.org/officeDocument/2006/relationships" id="265" r:id="Re7aeec0567a5431b"/>
    <p:sldId xmlns:r="http://schemas.openxmlformats.org/officeDocument/2006/relationships" id="266" r:id="R8020506c69174216"/>
    <p:sldId xmlns:r="http://schemas.openxmlformats.org/officeDocument/2006/relationships" id="267" r:id="R40abe67e6a844d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36c5229c5a42e7" /><Relationship Type="http://schemas.openxmlformats.org/officeDocument/2006/relationships/slideMaster" Target="/ppt/slideMasters/slideMaster1.xml" Id="R828efab3409b4e8e" /><Relationship Type="http://schemas.openxmlformats.org/officeDocument/2006/relationships/notesMaster" Target="/ppt/notesMasters/notesMaster1.xml" Id="Rf5bc3ab3e0094f46" /><Relationship Type="http://schemas.openxmlformats.org/officeDocument/2006/relationships/presProps" Target="/ppt/presProps.xml" Id="Rb34007a467144c82" /><Relationship Type="http://schemas.openxmlformats.org/officeDocument/2006/relationships/tableStyles" Target="/ppt/tableStyles.xml" Id="Rc68337a9d3c74841" /><Relationship Type="http://schemas.openxmlformats.org/officeDocument/2006/relationships/slide" Target="/ppt/slides/slide1.xml" Id="Rd5fce5d2b31e4731" /><Relationship Type="http://schemas.openxmlformats.org/officeDocument/2006/relationships/slide" Target="/ppt/slides/slide2.xml" Id="Re733f783a53248e1" /><Relationship Type="http://schemas.openxmlformats.org/officeDocument/2006/relationships/slide" Target="/ppt/slides/slide3.xml" Id="R16efd100f88b4776" /><Relationship Type="http://schemas.openxmlformats.org/officeDocument/2006/relationships/slide" Target="/ppt/slides/slide4.xml" Id="R2f8fee197cfe4787" /><Relationship Type="http://schemas.openxmlformats.org/officeDocument/2006/relationships/slide" Target="/ppt/slides/slide5.xml" Id="R7aff322fab9a422c" /><Relationship Type="http://schemas.openxmlformats.org/officeDocument/2006/relationships/slide" Target="/ppt/slides/slide6.xml" Id="R05abc6268fe74c1a" /><Relationship Type="http://schemas.openxmlformats.org/officeDocument/2006/relationships/slide" Target="/ppt/slides/slide7.xml" Id="R50b48d258dde4d63" /><Relationship Type="http://schemas.openxmlformats.org/officeDocument/2006/relationships/slide" Target="/ppt/slides/slide8.xml" Id="Rede5a453ecff4648" /><Relationship Type="http://schemas.openxmlformats.org/officeDocument/2006/relationships/slide" Target="/ppt/slides/slide9.xml" Id="R61176c2373ef41b3" /><Relationship Type="http://schemas.openxmlformats.org/officeDocument/2006/relationships/slide" Target="/ppt/slides/slide10.xml" Id="Re7aeec0567a5431b" /><Relationship Type="http://schemas.openxmlformats.org/officeDocument/2006/relationships/slide" Target="/ppt/slides/slide11.xml" Id="R8020506c69174216" /><Relationship Type="http://schemas.openxmlformats.org/officeDocument/2006/relationships/slide" Target="/ppt/slides/slide12.xml" Id="R40abe67e6a844d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6a32aa2c6d4f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1eb6eeef644297" /><Relationship Type="http://schemas.openxmlformats.org/officeDocument/2006/relationships/notesMaster" Target="/ppt/notesMasters/notesMaster1.xml" Id="Rdea909aa409647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cae1353ec14c4a" /><Relationship Type="http://schemas.openxmlformats.org/officeDocument/2006/relationships/notesMaster" Target="/ppt/notesMasters/notesMaster1.xml" Id="Rff9b3b4556454e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b4cef6e0ba4d20" /><Relationship Type="http://schemas.openxmlformats.org/officeDocument/2006/relationships/notesMaster" Target="/ppt/notesMasters/notesMaster1.xml" Id="R1fbd8a9f2e1044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b1bd91216945d1" /><Relationship Type="http://schemas.openxmlformats.org/officeDocument/2006/relationships/notesMaster" Target="/ppt/notesMasters/notesMaster1.xml" Id="R1b2279a8b24c4e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2c8bbc7ae64455" /><Relationship Type="http://schemas.openxmlformats.org/officeDocument/2006/relationships/notesMaster" Target="/ppt/notesMasters/notesMaster1.xml" Id="R99440a973f7f41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8fd807e71e42bc" /><Relationship Type="http://schemas.openxmlformats.org/officeDocument/2006/relationships/notesMaster" Target="/ppt/notesMasters/notesMaster1.xml" Id="R047641b8fadf44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eb3c86e68f476c" /><Relationship Type="http://schemas.openxmlformats.org/officeDocument/2006/relationships/notesMaster" Target="/ppt/notesMasters/notesMaster1.xml" Id="R1b257633ba1d4f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9986a7d14e4e6e" /><Relationship Type="http://schemas.openxmlformats.org/officeDocument/2006/relationships/notesMaster" Target="/ppt/notesMasters/notesMaster1.xml" Id="R8712f74b9a684a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08eca7ddd648ff" /><Relationship Type="http://schemas.openxmlformats.org/officeDocument/2006/relationships/notesMaster" Target="/ppt/notesMasters/notesMaster1.xml" Id="Rbe330bfa39f449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17fb73a4cc4806" /><Relationship Type="http://schemas.openxmlformats.org/officeDocument/2006/relationships/notesMaster" Target="/ppt/notesMasters/notesMaster1.xml" Id="Rf3a44a3ab8e544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e7d271ad5645dd" /><Relationship Type="http://schemas.openxmlformats.org/officeDocument/2006/relationships/notesMaster" Target="/ppt/notesMasters/notesMaster1.xml" Id="Rdffc14ea567a4d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0d8c7070ef4024" /><Relationship Type="http://schemas.openxmlformats.org/officeDocument/2006/relationships/notesMaster" Target="/ppt/notesMasters/notesMaster1.xml" Id="R616132e425a04c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10분 발표. 단순 챗봇보다 근거, 사용자 승인, 실패 복구를 엔지니어링한 경험을 설명한다. 1인 개발 프로젝트.</a:t>
            </a:r>
          </a:p>
          <a:p xmlns:a="http://schemas.openxmlformats.org/drawingml/2006/main">
            <a:r>
              <a:t>자료 기준: 2026-10-12, commit 2f992ed.</a:t>
            </a:r>
          </a:p>
          <a:p xmlns:a="http://schemas.openxmlformats.org/drawingml/2006/main">
            <a:r>
              <a:t>출처: https://github.com/Kim-Du-Yeon/MetaDiet-AI/blob/2f992ed/PORTFOLIO_CASE_STUDY.md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영양 수치는 CSV, 설명 근거는 RAG로 분리. 의료 진단이나 임상 효과 검증을 주장하지 않는다.</a:t>
            </a:r>
          </a:p>
          <a:p xmlns:a="http://schemas.openxmlformats.org/drawingml/2006/main">
            <a:r>
              <a:t>자료 기준: 2026-10-12, commit 2f992ed.</a:t>
            </a:r>
          </a:p>
          <a:p xmlns:a="http://schemas.openxmlformats.org/drawingml/2006/main">
            <a:r>
              <a:t>출처: https://github.com/Kim-Du-Yeon/MetaDiet-AI/blob/2f992ed/PORTFOLIO_CASE_STUDY.md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체중만 기록한 경우 골격근량이나 체지방을 추정하지 않는다. 사진 인식도 저장 전 확인한다.</a:t>
            </a:r>
          </a:p>
          <a:p xmlns:a="http://schemas.openxmlformats.org/drawingml/2006/main">
            <a:r>
              <a:t>자료 기준: 2026-10-12, commit 2f992ed.</a:t>
            </a:r>
          </a:p>
          <a:p xmlns:a="http://schemas.openxmlformats.org/drawingml/2006/main">
            <a:r>
              <a:t>출처: https://github.com/Kim-Du-Yeon/MetaDiet-AI/blob/2f992ed/PORTFOLIO_CASE_STUDY.md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Supervisor 전문 Agent 위임, Meal Planner/Validator 최대 3회 루프. Weekly Deep는 별도 예산과 읽기 전용 MCP를 사용. LangGraph checkpoint Postgres pool min1 max10 timeout15.</a:t>
            </a:r>
          </a:p>
          <a:p xmlns:a="http://schemas.openxmlformats.org/drawingml/2006/main">
            <a:r>
              <a:t>자료 기준: 2026-10-12, commit 2f992ed.</a:t>
            </a:r>
          </a:p>
          <a:p xmlns:a="http://schemas.openxmlformats.org/drawingml/2006/main">
            <a:r>
              <a:t>출처: https://github.com/Kim-Du-Yeon/MetaDiet-AI/blob/2f992ed/PORTFOLIO_CASE_STUDY.md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선정 구성 PyPDF recursive Gemini embedding2 3072 Hybrid KiwiBM25 RRF no reranker. 768/1536은 같은 모델 MRL prefix 비교. Jev는 운영 비활성. https://github.com/Kim-Du-Yeon/MetaDiet-AI/blob/2f992ed/docs/rag_experiments/RAG_FINAL_EVALUATION_V1.md</a:t>
            </a:r>
          </a:p>
          <a:p xmlns:a="http://schemas.openxmlformats.org/drawingml/2006/main">
            <a:r>
              <a:t>자료 기준: 2026-10-12, commit 2f992ed.</a:t>
            </a:r>
          </a:p>
          <a:p xmlns:a="http://schemas.openxmlformats.org/drawingml/2006/main">
            <a:r>
              <a:t>출처: https://github.com/Kim-Du-Yeon/MetaDiet-AI/blob/2f992ed/PORTFOLIO_CASE_STUDY.md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Ragas0.2.15 generation gemini3.8flash judge gemini3.1propreview. designated source strict17/20, alternate evidence support19/20. correctness nonblind source reviewed. Missing EN child extrapolation abstained.</a:t>
            </a:r>
          </a:p>
          <a:p xmlns:a="http://schemas.openxmlformats.org/drawingml/2006/main">
            <a:r>
              <a:t>자료 기준: 2026-10-12, commit 2f992ed.</a:t>
            </a:r>
          </a:p>
          <a:p xmlns:a="http://schemas.openxmlformats.org/drawingml/2006/main">
            <a:r>
              <a:t>출처: https://github.com/Kim-Du-Yeon/MetaDiet-AI/blob/2f992ed/PORTFOLIO_CASE_STUDY.md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성공 readonly request scoped cache와 Supervisor 중복 종합 제거. 실패/쓰기/위임 캐시 제외. 모델호출35→30. 비용과 도구 전후절감 미검증. independent final p50 differs, do not pool.</a:t>
            </a:r>
          </a:p>
          <a:p xmlns:a="http://schemas.openxmlformats.org/drawingml/2006/main">
            <a:r>
              <a:t>자료 기준: 2026-10-12, commit 2f992ed.</a:t>
            </a:r>
          </a:p>
          <a:p xmlns:a="http://schemas.openxmlformats.org/drawingml/2006/main">
            <a:r>
              <a:t>출처: https://github.com/Kim-Du-Yeon/MetaDiet-AI/blob/2f992ed/PORTFOLIO_CASE_STUDY.md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live independent 8 unseen flows root traces8 errors0 models28tools24. Fault injection5 scriptedmodel not livequality: partial,API failure,budget,evidence conflict,write attempt.</a:t>
            </a:r>
          </a:p>
          <a:p xmlns:a="http://schemas.openxmlformats.org/drawingml/2006/main">
            <a:r>
              <a:t>자료 기준: 2026-10-12, commit 2f992ed.</a:t>
            </a:r>
          </a:p>
          <a:p xmlns:a="http://schemas.openxmlformats.org/drawingml/2006/main">
            <a:r>
              <a:t>출처: https://github.com/Kim-Du-Yeon/MetaDiet-AI/blob/2f992ed/PORTFOLIO_CASE_STUDY.md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OOM Kubernetes enforces cgroup not cause. API/BM25/Kiwi/runtime buffers exceed1GiB; quality lower remove. Docling replay24page174blocks consistent but native fault unresolved. API invalid credential wrong OpenAI in Gemini.</a:t>
            </a:r>
          </a:p>
          <a:p xmlns:a="http://schemas.openxmlformats.org/drawingml/2006/main">
            <a:r>
              <a:t>자료 기준: 2026-10-12, commit 2f992ed.</a:t>
            </a:r>
          </a:p>
          <a:p xmlns:a="http://schemas.openxmlformats.org/drawingml/2006/main">
            <a:r>
              <a:t>출처: https://github.com/Kim-Du-Yeon/MetaDiet-AI/blob/2f992ed/PORTFOLIO_CASE_STUDY.md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Coldhealth1sample53.022s warm20median236.2ms p95949.9ms; local5.7203s envdiff cannot exactsubtract. kind400success p955.86ms local notinternet. publichealth50auth30agent2 noerrors tinyload.</a:t>
            </a:r>
          </a:p>
          <a:p xmlns:a="http://schemas.openxmlformats.org/drawingml/2006/main">
            <a:r>
              <a:t>자료 기준: 2026-10-12, commit 2f992ed.</a:t>
            </a:r>
          </a:p>
          <a:p xmlns:a="http://schemas.openxmlformats.org/drawingml/2006/main">
            <a:r>
              <a:t>출처: https://github.com/Kim-Du-Yeon/MetaDiet-AI/blob/2f992ed/PORTFOLIO_CASE_STUDY.md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 admin1/7/30/90views,403user,201first200replay1row delete0. DAU24hWAU7d/signupcohort real milestones. Browser best effort notzero losses. Email settings yes delivery test notclaimed.</a:t>
            </a:r>
          </a:p>
          <a:p xmlns:a="http://schemas.openxmlformats.org/drawingml/2006/main">
            <a:r>
              <a:t>자료 기준: 2026-10-12, commit 2f992ed.</a:t>
            </a:r>
          </a:p>
          <a:p xmlns:a="http://schemas.openxmlformats.org/drawingml/2006/main">
            <a:r>
              <a:t>출처: https://github.com/Kim-Du-Yeon/MetaDiet-AI/blob/2f992ed/PORTFOLIO_CASE_STUDY.md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Regression389pass1skip frontend58build. User feedback and longitudinal outcome absent. Freecoldstart and old react scripts known. Link public demo and repo.</a:t>
            </a:r>
          </a:p>
          <a:p xmlns:a="http://schemas.openxmlformats.org/drawingml/2006/main">
            <a:r>
              <a:t>자료 기준: 2026-10-12, commit 2f992ed.</a:t>
            </a:r>
          </a:p>
          <a:p xmlns:a="http://schemas.openxmlformats.org/drawingml/2006/main">
            <a:r>
              <a:t>출처: https://github.com/Kim-Du-Yeon/MetaDiet-AI/blob/2f992ed/PORTFOLIO_CASE_STUDY.md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0efe2b23749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25a80313e43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21112f033a43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23aab41f242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7925b7c7448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ccfef468545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7995E0-F26C-4653-ADFC-DAD6F13FB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054B5D-91DC-4ADA-9EA9-A4A99DCE24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9DAA9DA-6530-49D5-A395-F5EAC170F4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8218A9-5A62-4C65-846A-52F545CE58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C977A2C-E7C5-4C8A-BB4F-EF61D1D7FD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5A06CF-8B72-481C-AAD2-7E7EED7A41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319393-1F3A-448C-AF89-C1D241A862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9FCA51C-669A-40E0-8903-14E500EC60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EF3448-D7FB-43B6-8B07-F576D7C815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DFA93F-10E4-4A6C-BD81-308391311D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839478cd684f09" /><Relationship Type="http://schemas.openxmlformats.org/officeDocument/2006/relationships/slideLayout" Target="/ppt/slideLayouts/slideLayout1.xml" Id="Ra02a2a709e7346ba" /><Relationship Type="http://schemas.openxmlformats.org/officeDocument/2006/relationships/slideLayout" Target="/ppt/slideLayouts/slideLayout2.xml" Id="R4d1a264e29b64c48" /><Relationship Type="http://schemas.openxmlformats.org/officeDocument/2006/relationships/slideLayout" Target="/ppt/slideLayouts/slideLayout3.xml" Id="R450650c39fd74ac7" /><Relationship Type="http://schemas.openxmlformats.org/officeDocument/2006/relationships/slideLayout" Target="/ppt/slideLayouts/slideLayout4.xml" Id="R21d01df2c6934b51" /><Relationship Type="http://schemas.openxmlformats.org/officeDocument/2006/relationships/slideLayout" Target="/ppt/slideLayouts/slideLayout5.xml" Id="R0c11a44c157e4478" /><Relationship Type="http://schemas.openxmlformats.org/officeDocument/2006/relationships/slideLayout" Target="/ppt/slideLayouts/slideLayout6.xml" Id="R302ede66d18c4e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2a2a709e7346ba"/>
    <p:sldLayoutId xmlns:r="http://schemas.openxmlformats.org/officeDocument/2006/relationships" id="2147483650" r:id="R4d1a264e29b64c48"/>
    <p:sldLayoutId xmlns:r="http://schemas.openxmlformats.org/officeDocument/2006/relationships" id="2147483651" r:id="R450650c39fd74ac7"/>
    <p:sldLayoutId xmlns:r="http://schemas.openxmlformats.org/officeDocument/2006/relationships" id="2147483652" r:id="R21d01df2c6934b51"/>
    <p:sldLayoutId xmlns:r="http://schemas.openxmlformats.org/officeDocument/2006/relationships" id="2147483653" r:id="R0c11a44c157e4478"/>
    <p:sldLayoutId xmlns:r="http://schemas.openxmlformats.org/officeDocument/2006/relationships" id="2147483654" r:id="R302ede66d18c4e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e8d63737254eb6" /><Relationship Type="http://schemas.openxmlformats.org/officeDocument/2006/relationships/notesSlide" Target="/ppt/notesSlides/notesSlide1.xml" Id="Rb1e578a8352842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6d826351124b14" /><Relationship Type="http://schemas.openxmlformats.org/officeDocument/2006/relationships/notesSlide" Target="/ppt/notesSlides/notesSlide2.xml" Id="R8abf4ec1f34641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e1721ea729450b" /><Relationship Type="http://schemas.openxmlformats.org/officeDocument/2006/relationships/notesSlide" Target="/ppt/notesSlides/notesSlide3.xml" Id="Rbead3a27e4a942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d721a3e86741c6" /><Relationship Type="http://schemas.openxmlformats.org/officeDocument/2006/relationships/notesSlide" Target="/ppt/notesSlides/notesSlide4.xml" Id="R7d38399a252949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91fd8d245447dd" /><Relationship Type="http://schemas.openxmlformats.org/officeDocument/2006/relationships/notesSlide" Target="/ppt/notesSlides/notesSlide5.xml" Id="R12acbd66635942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6d803af14c4c8e" /><Relationship Type="http://schemas.openxmlformats.org/officeDocument/2006/relationships/notesSlide" Target="/ppt/notesSlides/notesSlide6.xml" Id="R2557c69eed6948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5c7e16ade94a70" /><Relationship Type="http://schemas.openxmlformats.org/officeDocument/2006/relationships/notesSlide" Target="/ppt/notesSlides/notesSlide7.xml" Id="R4b5fbfb3f4594f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4dcb11c2394a26" /><Relationship Type="http://schemas.openxmlformats.org/officeDocument/2006/relationships/notesSlide" Target="/ppt/notesSlides/notesSlide8.xml" Id="R897fb25399c643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da2d28089541e5" /><Relationship Type="http://schemas.openxmlformats.org/officeDocument/2006/relationships/notesSlide" Target="/ppt/notesSlides/notesSlide9.xml" Id="R788b297c43a540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ea97a5c8424430" /><Relationship Type="http://schemas.openxmlformats.org/officeDocument/2006/relationships/notesSlide" Target="/ppt/notesSlides/notesSlide10.xml" Id="R9cf2ec2f9a5942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0af577084549cd" /><Relationship Type="http://schemas.openxmlformats.org/officeDocument/2006/relationships/notesSlide" Target="/ppt/notesSlides/notesSlide11.xml" Id="Rc87d8e332e9a4a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0e132261de4eda" /><Relationship Type="http://schemas.openxmlformats.org/officeDocument/2006/relationships/notesSlide" Target="/ppt/notesSlides/notesSlide12.xml" Id="Ra489f18bdc5341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F4712-A078-4D01-BA5B-A3D885FD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rPr>
              <a:t>MetaDiet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3D482-0A3E-4A37-8E6F-0C4A381A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근거와 승인 경계를 가진 멀티에이전트 식단 코치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F2872-8476-4808-B57B-84F13B13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AB46C-C876-4369-921C-BBE98DC5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744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rPr>
              <a:t>답변 생성에서</a:t>
            </a:r>
          </a:p>
          <a:p xmlns:a="http://schemas.openxmlformats.org/drawingml/2006/main">
            <a:pPr>
              <a:defRPr sz="48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rPr>
              <a:t>복구 가능한 서비스로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20CEB-42DA-41C3-9A3A-1C1D39A3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LangGraph · Gemini · FastAPI · React · Supabase</a:t>
            </a:r>
          </a:p>
          <a:p xmlns:a="http://schemas.openxmlformats.org/drawingml/2006/main">
            <a:pPr>
              <a:defRPr sz="2025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공개 제한 베타 | 1인 개발 | 2026.10</a:t>
            </a:r>
          </a:p>
        </p:txBody>
      </p:sp>
    </p:spTree>
    <p:extLst>
      <p:ext uri="{BB962C8B-B14F-4D97-AF65-F5344CB8AC3E}">
        <p14:creationId xmlns:p14="http://schemas.microsoft.com/office/powerpoint/2010/main" val="1306041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4D208-F7AE-4183-B590-CC4049A3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rPr>
              <a:t>문제 정의: 자연스러운 답변만으로는 부족하다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A6E99-2C71-4235-BD9E-C4F26E9D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잘못된 수치 · 승인 없는 변경 · 재시도 중복을 서비스 경계에서 통제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5757B-CFA3-4497-A2D3-51916743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5A53A-374B-44DA-978D-118ADA7B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rPr>
              <a:t>수치 신뢰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0F9B4-1E99-4296-8B16-607CE5C4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음식 후보와 중량을 확인하고 CSV로 영양 값을 계산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42E56-4489-4F7B-B8B1-5E8ACC2F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rPr>
              <a:t>변경 통제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E7ADE-9D08-443E-B01D-3203AF19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909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식사·측정·전략은 versioned proposal 승인 후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1FCA4-2CE9-41E3-87F1-A96D0331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rPr>
              <a:t>실패 복구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A772F-63B4-4AD7-AD3F-C0532B2D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577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체크포인트와 멱등 확정으로 연결 중단 이후 상태 복원</a:t>
            </a:r>
          </a:p>
        </p:txBody>
      </p:sp>
    </p:spTree>
    <p:extLst>
      <p:ext uri="{BB962C8B-B14F-4D97-AF65-F5344CB8AC3E}">
        <p14:creationId xmlns:p14="http://schemas.microsoft.com/office/powerpoint/2010/main" val="12237439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86577-0046-4356-9C1C-140AE0C5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rPr>
              <a:t>사용자 흐름을 끝까지 구현했다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4F2B9-E0C1-443A-9753-1AAA1EE9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가입에서 기록·계획·측정·복원까지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3E3B6-C7C8-4F56-8E69-D6251480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173FF-B4BD-493F-9868-1117A72D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rPr>
              <a:t>가입·목표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A5E46-B22E-4E8F-91D2-5C4D0CCC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JWT 인증 → 활동 수준·체중·목표 → 대시보드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886FB-B627-4CCE-BFAA-DD1B63F9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rPr>
              <a:t>식사·전략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BBEF0-E9EB-4B8C-8750-FB942AE9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909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자연어/사진 → 후보·근거 → 수정·확정 → 이력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835BF-47D2-483B-9FD9-A3B3C584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rPr>
              <a:t>측정·복원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1F9FC-E652-44D8-9AA4-E6A4D65F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577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체중 / 완전한 인바디 분리 · 새로고침 시 대화·proposal 복원</a:t>
            </a:r>
          </a:p>
        </p:txBody>
      </p:sp>
    </p:spTree>
    <p:extLst>
      <p:ext uri="{BB962C8B-B14F-4D97-AF65-F5344CB8AC3E}">
        <p14:creationId xmlns:p14="http://schemas.microsoft.com/office/powerpoint/2010/main" val="11939485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2BB98-C671-416C-AD28-F5834FB2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rPr>
              <a:t>LLM의 판단과 코드의 보장을 분리했다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5E484-CFA2-4FFA-BCC6-3B373136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React → FastAPI → LangGraph → 검증 → HITL → Supabase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20BD5-F5CC-47B0-B26A-1D57FC4B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5CAE4-8462-44D4-9CA1-DD5A43808F12}"/>
              </a:ext>
            </a:extLst>
          </p:cNvPr>
          <p:cNvGraphicFramePr/>
          <p:nvPr/>
        </p:nvGraphicFramePr>
        <p:xfrm>
          <a:off xmlns:a="http://schemas.openxmlformats.org/drawingml/2006/main" x="723900" y="2571750"/>
          <a:ext xmlns:a="http://schemas.openxmlformats.org/drawingml/2006/main" cx="107442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72100"/>
                <a:gridCol w="53721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모델이 선택</a:t>
                      </a:r>
                    </a:p>
                  </a:txBody>
                  <a:tcPr marL="91440" marR="91440" marT="45720" marB="45720">
                    <a:solidFill>
                      <a:srgbClr val="1974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서버가 검사</a:t>
                      </a:r>
                    </a:p>
                  </a:txBody>
                  <a:tcPr marL="91440" marR="91440" marT="45720" marB="45720">
                    <a:solidFill>
                      <a:srgbClr val="197454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Intent · 전문 Agent · 읽기 도구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JWT 소유권 · 날짜/수치 · 실행 예산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근거를 바탕으로 전략 제안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충돌 · 승인 여부 · proposal version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 피드백으로 재계획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루프 상한 · 재연결 · 중복 저장 방지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57881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C1616-9F7F-47D3-97E0-F838FA89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rPr>
              <a:t>실험은 더 복잡한 구성을 채택하기 위한 것이 아니었다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66465-79BC-4967-8864-42833A1F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10개 PDF · 1,953페이지 · 활성 4,139청크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B77B1-E51B-4E51-A404-F91072DB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AE9BF-6139-4941-A4A4-93D05ADDA85F}"/>
              </a:ext>
            </a:extLst>
          </p:cNvPr>
          <p:cNvGraphicFramePr/>
          <p:nvPr/>
        </p:nvGraphicFramePr>
        <p:xfrm>
          <a:off xmlns:a="http://schemas.openxmlformats.org/drawingml/2006/main" x="723900" y="2476500"/>
          <a:ext xmlns:a="http://schemas.openxmlformats.org/drawingml/2006/main" cx="107442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72100"/>
                <a:gridCol w="5372100"/>
              </a:tblGrid>
              <a:tr h="809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축</a:t>
                      </a:r>
                    </a:p>
                  </a:txBody>
                  <a:tcPr marL="91440" marR="91440" marT="45720" marB="45720">
                    <a:solidFill>
                      <a:srgbClr val="1974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관측과 결정</a:t>
                      </a:r>
                    </a:p>
                  </a:txBody>
                  <a:tcPr marL="91440" marR="91440" marT="45720" marB="45720">
                    <a:solidFill>
                      <a:srgbClr val="197454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파서·청킹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Docling 안정성 한계 → PyPDF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임베딩·검색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768/1536/3072 비교 → 3072 + Hybrid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FlashRank·Jev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품질·메모리·호출/지연 채택 기준 미충족 →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17264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50D2B-43D3-499F-A194-0DB5AEFD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rPr>
              <a:t>독립 RAG 평가: 근거 누락까지 드러냈다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63032-7D3F-4C5B-A892-279EEBBA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선정 이후 동결한 20문항 / 10개 이중 언어 사실 그룹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E76F7-C6C2-47F4-8723-731D2087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494E1-AD22-4EAD-BEEE-29513A48816B}"/>
              </a:ext>
            </a:extLst>
          </p:cNvPr>
          <p:cNvGraphicFramePr/>
          <p:nvPr/>
        </p:nvGraphicFramePr>
        <p:xfrm>
          <a:off xmlns:a="http://schemas.openxmlformats.org/drawingml/2006/main" x="723900" y="2476500"/>
          <a:ext xmlns:a="http://schemas.openxmlformats.org/drawingml/2006/main" cx="107442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81400"/>
                <a:gridCol w="3581400"/>
                <a:gridCol w="3581400"/>
              </a:tblGrid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91440" marR="91440" marT="45720" marB="45720">
                    <a:solidFill>
                      <a:srgbClr val="1974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1974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해석</a:t>
                      </a:r>
                    </a:p>
                  </a:txBody>
                  <a:tcPr marL="91440" marR="91440" marT="45720" marB="45720">
                    <a:solidFill>
                      <a:srgbClr val="197454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source/page Recall@4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17/20 지정 페이지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대체 유효 근거 포함 support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95%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재검토 기준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Faithfulness / context recall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1.00 / 0.95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Ragas 자동 평가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9AEEF-DE4A-484A-B467-F4B88C06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영어 근거 누락 1건은 안전 보류. 임상 효과·맹검 사람 평가가 아님.</a:t>
            </a:r>
          </a:p>
        </p:txBody>
      </p:sp>
    </p:spTree>
    <p:extLst>
      <p:ext uri="{BB962C8B-B14F-4D97-AF65-F5344CB8AC3E}">
        <p14:creationId xmlns:p14="http://schemas.microsoft.com/office/powerpoint/2010/main" val="10275303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25701-6441-4580-A040-1CAB1A46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rPr>
              <a:t>중복 호출을 줄여 p95를 45.1% 단축했다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C6C97-7814-4F40-95DD-5CBFE5E3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동일 개발 8개 흐름, 전후 각 1회 측정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64962-EA9C-465D-B4C1-FD9FE30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7E9EC-253B-4DC1-9D72-36785C595E86}"/>
              </a:ext>
            </a:extLst>
          </p:cNvPr>
          <p:cNvGraphicFramePr/>
          <p:nvPr/>
        </p:nvGraphicFramePr>
        <p:xfrm>
          <a:off xmlns:a="http://schemas.openxmlformats.org/drawingml/2006/main" x="723900" y="2476500"/>
          <a:ext xmlns:a="http://schemas.openxmlformats.org/drawingml/2006/main" cx="107442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81400"/>
                <a:gridCol w="3581400"/>
                <a:gridCol w="3581400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91440" marR="91440" marT="45720" marB="45720">
                    <a:solidFill>
                      <a:srgbClr val="1974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전</a:t>
                      </a:r>
                    </a:p>
                  </a:txBody>
                  <a:tcPr marL="91440" marR="91440" marT="45720" marB="45720">
                    <a:solidFill>
                      <a:srgbClr val="1974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후</a:t>
                      </a:r>
                    </a:p>
                  </a:txBody>
                  <a:tcPr marL="91440" marR="91440" marT="45720" marB="45720">
                    <a:solidFill>
                      <a:srgbClr val="19745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16.64초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9.31초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p95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24.92초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13.69초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호출 합계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 달성 / 정책 위반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8/8 / 0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8/8 / 0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6BAAC-F127-4E94-AA70-30A2A33E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읽기 도구 실행 내 캐시 + Supervisor 중복 종합 호출 제거</a:t>
            </a:r>
          </a:p>
        </p:txBody>
      </p:sp>
    </p:spTree>
    <p:extLst>
      <p:ext uri="{BB962C8B-B14F-4D97-AF65-F5344CB8AC3E}">
        <p14:creationId xmlns:p14="http://schemas.microsoft.com/office/powerpoint/2010/main" val="20840296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CDCEA-3F47-4B9B-B4C1-6A14472A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rPr>
              <a:t>Agent 평가는 답변 문장과 실행 행동을 나눴다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61F07-9CAC-461A-8A63-8BF1E48B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독립 합성 8개 흐름 + 실패 주입 5개 시나리오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70ED2-2496-4640-9274-3C3D642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2C681-16B1-48DF-8B1D-5C771044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rPr>
              <a:t>독립 실행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1B5E5-FE3E-439F-AC23-202E8708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목표 달성 8/8 · 정책 위반 0 · 승인 전 write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773E6-A0E6-42EA-AE01-EEBEBD7D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rPr>
              <a:t>지연·예산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82EB7-11B8-4D87-8A90-F4EB1F38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909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p50 16.71초 / p95 28.05초 · 모델 28 / 도구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02780-E1A5-4F82-A4B1-A6DC2529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rPr>
              <a:t>실패 경계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C8FE9-F357-4680-BFD7-5907BC9D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577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부분 기록·MCP 장애·예산 초과·근거 충돌·쓰기 시도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53B96-8F96-4C02-9D29-72A991A9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실패 주입 5개는 scripted-model 시험이며 실제 Gemini 품질 평가와 구분.</a:t>
            </a:r>
          </a:p>
        </p:txBody>
      </p:sp>
    </p:spTree>
    <p:extLst>
      <p:ext uri="{BB962C8B-B14F-4D97-AF65-F5344CB8AC3E}">
        <p14:creationId xmlns:p14="http://schemas.microsoft.com/office/powerpoint/2010/main" val="19599806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508D4-139D-4242-B880-1125DDC4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rPr>
              <a:t>실패 로그로 원인을 분리하고 채택을 결정했다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FFA3C-52EF-47C0-8827-B2D6A777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해결한 장애와 남은 원인을 함께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E9E43-4D9B-4F9B-AFDD-8EDD38D9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6167B-A330-4E2E-95EB-A14FD17E3770}"/>
              </a:ext>
            </a:extLst>
          </p:cNvPr>
          <p:cNvGraphicFramePr/>
          <p:nvPr/>
        </p:nvGraphicFramePr>
        <p:xfrm>
          <a:off xmlns:a="http://schemas.openxmlformats.org/drawingml/2006/main" x="723900" y="2476500"/>
          <a:ext xmlns:a="http://schemas.openxmlformats.org/drawingml/2006/main" cx="107442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81400"/>
                <a:gridCol w="3581400"/>
                <a:gridCol w="3581400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/ 증상</a:t>
                      </a:r>
                    </a:p>
                  </a:txBody>
                  <a:tcPr marL="91440" marR="91440" marT="45720" marB="45720">
                    <a:solidFill>
                      <a:srgbClr val="1974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91440" marR="91440" marT="45720" marB="45720">
                    <a:solidFill>
                      <a:srgbClr val="1974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대응</a:t>
                      </a:r>
                    </a:p>
                  </a:txBody>
                  <a:tcPr marL="91440" marR="91440" marT="45720" marB="45720">
                    <a:solidFill>
                      <a:srgbClr val="19745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OOMKilled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1GiB 예산 초과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품질도 낮은 FlashRank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API_KEY_INVALID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Render 키 종류 오입력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Gemini 키 교체·재검증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SSE 중 Pod 삭제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journal은 Pod 메모리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checkpoint 재개·멱등 확정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Docling native 오류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parser C++ 접근 오류 잔존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페이지 격리; 운영 PyPDF 유지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89542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F6206-7C77-4FC3-B0B3-6EE89156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rPr>
              <a:t>배포 지연을 상담 지연과 구분했다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4440E-3764-40B8-965C-F583D2C9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Render 공개 베타 + kind 복구 시험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6887E-CA49-4951-AB85-56DB98BC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A800C-F555-4304-AD45-58515D062792}"/>
              </a:ext>
            </a:extLst>
          </p:cNvPr>
          <p:cNvGraphicFramePr/>
          <p:nvPr/>
        </p:nvGraphicFramePr>
        <p:xfrm>
          <a:off xmlns:a="http://schemas.openxmlformats.org/drawingml/2006/main" x="723900" y="2476500"/>
          <a:ext xmlns:a="http://schemas.openxmlformats.org/drawingml/2006/main" cx="107442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81400"/>
                <a:gridCol w="3581400"/>
                <a:gridCol w="3581400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구간</a:t>
                      </a:r>
                    </a:p>
                  </a:txBody>
                  <a:tcPr marL="91440" marR="91440" marT="45720" marB="45720">
                    <a:solidFill>
                      <a:srgbClr val="1974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1974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</a:t>
                      </a:r>
                    </a:p>
                  </a:txBody>
                  <a:tcPr marL="91440" marR="91440" marT="45720" marB="45720">
                    <a:solidFill>
                      <a:srgbClr val="19745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휴면 후 첫 health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53.02초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1회, 무료 인스턴스 복구 포함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기동 후 health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중앙값 0.236초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20회, p95 0.950초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독립 Agent 실행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p95 28.05초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8개 합성 흐름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kind rolling restart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400/400 성공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health, p95 5.86ms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363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FF6CF-58AB-40C5-9DD1-92176F10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rPr>
              <a:t>사용량 지표에서 실제 실패 trace까지 연결했다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20E49-D735-4DBE-A8A1-369EA4B6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제품 이벤트 → SSE trace_id → LangSmith root span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1BB77-4093-42A1-8B87-6A491D85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2481F-F09B-479E-99B8-AEC1658E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rPr>
              <a:t>제품 분석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4B75E-9446-4C52-9F20-C375E128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DAU/WAU · 가입 cohort · 첫 식사 전환 · 완료율 · p95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F4635-0953-4FF5-B1F0-5F4C221B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rPr>
              <a:t>실행 추적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3E84A-15AD-469D-8D8A-778D7EE8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909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SSE·제품 이벤트·LangSmith root ID 일치 공개 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879ED-3870-490F-B7ED-B0F789FD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rPr>
              <a:t>개인정보 경계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C7D3C-1FF1-44BE-B473-CD144151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577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원문·음식명·이메일·건강 수치 제외; 내부 사용자 FK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0848D-61E5-49E6-9802-1AB0EA30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완료율은 답변 정확도가 아니다. 분석 전송에는 누락 가능성이 있다.</a:t>
            </a:r>
          </a:p>
        </p:txBody>
      </p:sp>
    </p:spTree>
    <p:extLst>
      <p:ext uri="{BB962C8B-B14F-4D97-AF65-F5344CB8AC3E}">
        <p14:creationId xmlns:p14="http://schemas.microsoft.com/office/powerpoint/2010/main" val="9973152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A6D05-26F3-44BB-993C-B6A323D0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D33"/>
                </a:solidFill>
                <a:latin typeface="Malgun Gothic"/>
                <a:ea typeface="Malgun Gothic"/>
                <a:cs typeface="Malgun Gothic"/>
              </a:rPr>
              <a:t>검증된 베타, 다음 증거는 실제 사용자에게서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53C65-E187-4C1B-85EB-EC0EEC95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현재 버전의 성과와 아직 말할 수 없는 것을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1AE6C-0A05-4238-8070-64461126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75F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F6622-DBA5-4AA8-8E49-7317DEA9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rPr>
              <a:t>구현·검증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F2462-69DD-4E7F-9422-1642A8DF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백엔드 389 passed, 1 skipped · 프론트 58 passed · build 성공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D9C13-8DAE-428F-A977-CC7BEBE9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rPr>
              <a:t>남은 한계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019B5-995F-444E-BA45-CBE72BE8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909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소수 합성 표본 · 무료 cold start · 영어 근거 누락 1건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31E75-4185-483C-AA02-08E4D873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97454"/>
                </a:solidFill>
                <a:latin typeface="Malgun Gothic"/>
                <a:ea typeface="Malgun Gothic"/>
                <a:cs typeface="Malgun Gothic"/>
              </a:rPr>
              <a:t>후속 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DDFF6-17E1-41BA-AF0D-B8A16BBE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577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동의된 사용자 피드백 → 실패 재현 → 동일 조건 전후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B02A2-311E-428E-BEEF-619B6814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Demo  https://metadiet-web.onrender.com</a:t>
            </a:r>
          </a:p>
          <a:p xmlns:a="http://schemas.openxmlformats.org/drawingml/2006/main">
            <a:pPr>
              <a:defRPr sz="16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93D35"/>
                </a:solidFill>
                <a:latin typeface="Malgun Gothic"/>
                <a:ea typeface="Malgun Gothic"/>
                <a:cs typeface="Malgun Gothic"/>
              </a:rPr>
              <a:t>GitHub  https://github.com/Kim-Du-Yeon/MetaDiet-AI</a:t>
            </a:r>
          </a:p>
        </p:txBody>
      </p:sp>
    </p:spTree>
    <p:extLst>
      <p:ext uri="{BB962C8B-B14F-4D97-AF65-F5344CB8AC3E}">
        <p14:creationId xmlns:p14="http://schemas.microsoft.com/office/powerpoint/2010/main" val="1506479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2026-10-12T05:20:03.4270000Z</dcterms:created>
  <dcterms:modified xsi:type="dcterms:W3CDTF">2026-10-12T05:20:03.4270000Z</dcterms:modified>
</coreProperties>
</file>